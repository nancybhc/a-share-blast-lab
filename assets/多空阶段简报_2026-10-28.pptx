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分组数</c:v>
                </c:pt>
              </c:strCache>
            </c:strRef>
          </c:tx>
          <c:dPt>
            <c:idx val="0"/>
            <c:spPr>
              <a:solidFill>
                <a:srgbClr val="A3262F"/>
              </a:solidFill>
            </c:spPr>
          </c:dPt>
          <c:dPt>
            <c:idx val="1"/>
            <c:spPr>
              <a:solidFill>
                <a:srgbClr val="D34347"/>
              </a:solidFill>
            </c:spPr>
          </c:dPt>
          <c:dPt>
            <c:idx val="2"/>
            <c:spPr>
              <a:solidFill>
                <a:srgbClr val="F0B744"/>
              </a:solidFill>
            </c:spPr>
          </c:dPt>
          <c:dPt>
            <c:idx val="3"/>
            <c:spPr>
              <a:solidFill>
                <a:srgbClr val="318C5E"/>
              </a:solidFill>
            </c:spPr>
          </c:dPt>
          <c:cat>
            <c:strRef>
              <c:f>Sheet1!$A$2:$A$5</c:f>
              <c:strCache>
                <c:ptCount val="4"/>
                <c:pt idx="0">
                  <c:v>强势改善</c:v>
                </c:pt>
                <c:pt idx="1">
                  <c:v>改善</c:v>
                </c:pt>
                <c:pt idx="2">
                  <c:v>平稳</c:v>
                </c:pt>
                <c:pt idx="3">
                  <c:v>恶化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14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900">
          <a:latin typeface="Microsoft YaHei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latin typeface="Microsoft YaHei"/>
              </a:defRPr>
            </a:pPr>
            <a:r>
              <a:t>转多迁移构成（只）</a:t>
            </a:r>
          </a:p>
        </c:rich>
      </c:tx>
      <c:layout/>
      <c:overlay val="0"/>
    </c:title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空→空转多</c:v>
                </c:pt>
              </c:strCache>
            </c:strRef>
          </c:tx>
          <c:spPr>
            <a:solidFill>
              <a:srgbClr val="F0B744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800">
                    <a:solidFill>
                      <a:srgbClr val="233242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存储</c:v>
                </c:pt>
                <c:pt idx="1">
                  <c:v>半导体芯片</c:v>
                </c:pt>
                <c:pt idx="2">
                  <c:v>MLCC</c:v>
                </c:pt>
                <c:pt idx="3">
                  <c:v>机器人</c:v>
                </c:pt>
                <c:pt idx="4">
                  <c:v>药</c:v>
                </c:pt>
                <c:pt idx="5">
                  <c:v>CPO</c:v>
                </c:pt>
                <c:pt idx="6">
                  <c:v>半导体设备</c:v>
                </c:pt>
                <c:pt idx="7">
                  <c:v>半导体上游</c:v>
                </c:pt>
                <c:pt idx="8">
                  <c:v>互金证券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6</c:v>
                </c:pt>
                <c:pt idx="2">
                  <c:v>1</c:v>
                </c:pt>
                <c:pt idx="3">
                  <c:v>4</c:v>
                </c:pt>
                <c:pt idx="4">
                  <c:v>12</c:v>
                </c:pt>
                <c:pt idx="5">
                  <c:v>1</c:v>
                </c:pt>
                <c:pt idx="6">
                  <c:v>2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空转多→多</c:v>
                </c:pt>
              </c:strCache>
            </c:strRef>
          </c:tx>
          <c:spPr>
            <a:solidFill>
              <a:srgbClr val="D34347"/>
            </a:solidFill>
            <a:ln>
              <a:noFill/>
            </a:ln>
          </c:spPr>
          <c:dLbls>
            <c:txPr>
              <a:bodyPr/>
              <a:lstStyle/>
              <a:p>
                <a:pPr>
                  <a:defRPr sz="800">
                    <a:solidFill>
                      <a:srgbClr val="233242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存储</c:v>
                </c:pt>
                <c:pt idx="1">
                  <c:v>半导体芯片</c:v>
                </c:pt>
                <c:pt idx="2">
                  <c:v>MLCC</c:v>
                </c:pt>
                <c:pt idx="3">
                  <c:v>机器人</c:v>
                </c:pt>
                <c:pt idx="4">
                  <c:v>药</c:v>
                </c:pt>
                <c:pt idx="5">
                  <c:v>CPO</c:v>
                </c:pt>
                <c:pt idx="6">
                  <c:v>半导体设备</c:v>
                </c:pt>
                <c:pt idx="7">
                  <c:v>半导体上游</c:v>
                </c:pt>
                <c:pt idx="8">
                  <c:v>互金证券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3</c:v>
                </c:pt>
                <c:pt idx="2">
                  <c:v>0</c:v>
                </c:pt>
                <c:pt idx="3">
                  <c:v>5</c:v>
                </c:pt>
                <c:pt idx="4">
                  <c:v>2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空→多</c:v>
                </c:pt>
              </c:strCache>
            </c:strRef>
          </c:tx>
          <c:spPr>
            <a:solidFill>
              <a:srgbClr val="A3262F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存储</c:v>
                </c:pt>
                <c:pt idx="1">
                  <c:v>半导体芯片</c:v>
                </c:pt>
                <c:pt idx="2">
                  <c:v>MLCC</c:v>
                </c:pt>
                <c:pt idx="3">
                  <c:v>机器人</c:v>
                </c:pt>
                <c:pt idx="4">
                  <c:v>药</c:v>
                </c:pt>
                <c:pt idx="5">
                  <c:v>CPO</c:v>
                </c:pt>
                <c:pt idx="6">
                  <c:v>半导体设备</c:v>
                </c:pt>
                <c:pt idx="7">
                  <c:v>半导体上游</c:v>
                </c:pt>
                <c:pt idx="8">
                  <c:v>互金证券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E0E8"/>
            </a:solidFill>
          </a:ln>
        </c:spPr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8ECF1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latin typeface="Microsoft YaHe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Microsoft YaHei"/>
            </a:defRPr>
          </a:pPr>
        </a:p>
      </c:txPr>
    </c:legend>
    <c:dispBlanksAs val="gap"/>
  </c:chart>
  <c:txPr>
    <a:bodyPr/>
    <a:lstStyle/>
    <a:p>
      <a:pPr>
        <a:defRPr sz="900">
          <a:latin typeface="Microsoft YaHe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latin typeface="Microsoft YaHei"/>
              </a:defRPr>
            </a:pPr>
            <a:r>
              <a:t>转多力度（每 100 只的净加权事件）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转多强度</c:v>
                </c:pt>
              </c:strCache>
            </c:strRef>
          </c:tx>
          <c:spPr>
            <a:solidFill>
              <a:srgbClr val="D34347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存储</c:v>
                </c:pt>
                <c:pt idx="1">
                  <c:v>半导体芯片</c:v>
                </c:pt>
                <c:pt idx="2">
                  <c:v>MLCC</c:v>
                </c:pt>
                <c:pt idx="3">
                  <c:v>机器人</c:v>
                </c:pt>
                <c:pt idx="4">
                  <c:v>药</c:v>
                </c:pt>
                <c:pt idx="5">
                  <c:v>CPO</c:v>
                </c:pt>
                <c:pt idx="6">
                  <c:v>半导体设备</c:v>
                </c:pt>
                <c:pt idx="7">
                  <c:v>半导体上游</c:v>
                </c:pt>
                <c:pt idx="8">
                  <c:v>互金证券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36.4</c:v>
                </c:pt>
                <c:pt idx="1">
                  <c:v>30.0</c:v>
                </c:pt>
                <c:pt idx="2">
                  <c:v>18.8</c:v>
                </c:pt>
                <c:pt idx="3">
                  <c:v>15.7</c:v>
                </c:pt>
                <c:pt idx="4">
                  <c:v>8.3</c:v>
                </c:pt>
                <c:pt idx="5">
                  <c:v>6.1</c:v>
                </c:pt>
                <c:pt idx="6">
                  <c:v>4.3</c:v>
                </c:pt>
                <c:pt idx="7">
                  <c:v>4.1</c:v>
                </c:pt>
                <c:pt idx="8">
                  <c:v>3.3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 b="1"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8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9E0E8"/>
            </a:solidFill>
          </a:ln>
        </c:spPr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8ECF1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50">
                <a:latin typeface="Microsoft YaHe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Microsoft YaHe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当日共 18 个分组；改善 17、恶化 0。转多力度第一为 存储，强度 36.36。最强低位转势候选为 半导体芯片。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堆叠柱分别代表空转空转多、空转多转多、空直接转多。后两者更接近真实转多确认，空转空转多则是下一轮候选。最强低位转势候选：半导体芯片。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强度使用组规模标准化，避免大分组仅因成分多而排前。空→多权重 3，空转多→多权重 2，空→空转多权重 1；多→空权重 -2，多→多转空 -1.5，多转空→空和空转多→空各 -1。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次日先看空转多转多能否继续扩散，再检查空转空转多的蓄势池。反向压力主要来自：算力 转空 8 只｜商业航天 转空 6 只｜AI应用 转空 5 只｜药 转空 4 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53312"/>
          </a:xfrm>
          <a:prstGeom prst="rect">
            <a:avLst/>
          </a:prstGeom>
          <a:solidFill>
            <a:srgbClr val="0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310896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crosoft YaHei"/>
              </a:rPr>
              <a:t>多空趋势 · 当日迁移简报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0392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FDAE6"/>
                </a:solidFill>
                <a:latin typeface="Microsoft YaHei"/>
              </a:rPr>
              <a:t>从 MA5 / MA10 四阶段看结构切换，聚焦转多确认与次日扩散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05872" y="429768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CE4ED"/>
                </a:solidFill>
                <a:latin typeface="Microsoft YaHei"/>
              </a:rPr>
              <a:t>2026-10-28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27632"/>
            <a:ext cx="260604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27632"/>
            <a:ext cx="68580" cy="1133856"/>
          </a:xfrm>
          <a:prstGeom prst="rect">
            <a:avLst/>
          </a:prstGeom>
          <a:solidFill>
            <a:srgbClr val="366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783080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覆盖分组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011680"/>
            <a:ext cx="2258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487168"/>
            <a:ext cx="2258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改善 17 · 恶化 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144" y="1627632"/>
            <a:ext cx="260604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38144" y="1627632"/>
            <a:ext cx="68580" cy="1133856"/>
          </a:xfrm>
          <a:prstGeom prst="rect">
            <a:avLst/>
          </a:prstGeom>
          <a:solidFill>
            <a:srgbClr val="D3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2" y="1783080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空 → 多 跳级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011680"/>
            <a:ext cx="2258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487168"/>
            <a:ext cx="2258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跨过空转多的最强信号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627632"/>
            <a:ext cx="2606040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627632"/>
            <a:ext cx="68580" cy="113385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783080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重点异动分组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011680"/>
            <a:ext cx="2258568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487168"/>
            <a:ext cx="22585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达到强度或跳级门槛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0576" y="1627632"/>
            <a:ext cx="2450592" cy="11338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0576" y="1627632"/>
            <a:ext cx="68580" cy="1133856"/>
          </a:xfrm>
          <a:prstGeom prst="rect">
            <a:avLst/>
          </a:prstGeom>
          <a:solidFill>
            <a:srgbClr val="D3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4" y="1783080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57484"/>
                </a:solidFill>
                <a:latin typeface="Microsoft YaHei"/>
              </a:rPr>
              <a:t>转多力度第一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2011680"/>
            <a:ext cx="21031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存储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2487168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强度 36.4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3072384"/>
            <a:ext cx="46634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D30"/>
                </a:solidFill>
                <a:latin typeface="Microsoft YaHei"/>
              </a:rPr>
              <a:t>全市场分组方向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658368" y="3456432"/>
          <a:ext cx="434340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5321808" y="3246120"/>
            <a:ext cx="6291072" cy="2862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96128" y="349300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D34347"/>
                </a:solidFill>
                <a:latin typeface="Microsoft YaHei"/>
              </a:rPr>
              <a:t>今日一句话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3822191"/>
            <a:ext cx="56235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33242"/>
                </a:solidFill>
                <a:latin typeface="Microsoft YaHei"/>
              </a:rPr>
              <a:t>存储转多确认最强，半导体芯片以多占比 18.0% 成为最强低位转势候选，但同时提防算力、商业航天等反向转空。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5266944"/>
            <a:ext cx="1755648" cy="530352"/>
          </a:xfrm>
          <a:prstGeom prst="roundRect">
            <a:avLst>
              <a:gd name="adj" fmla="val 12000"/>
            </a:avLst>
          </a:prstGeom>
          <a:solidFill>
            <a:srgbClr val="EB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96712" y="534009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484"/>
                </a:solidFill>
                <a:latin typeface="Microsoft YaHei"/>
              </a:rPr>
              <a:t>低位候选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32180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66FAA"/>
                </a:solidFill>
                <a:latin typeface="Microsoft YaHei"/>
              </a:rPr>
              <a:t>半导体芯片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16367" y="5266944"/>
            <a:ext cx="1755648" cy="530352"/>
          </a:xfrm>
          <a:prstGeom prst="roundRect">
            <a:avLst>
              <a:gd name="adj" fmla="val 12000"/>
            </a:avLst>
          </a:prstGeom>
          <a:solidFill>
            <a:srgbClr val="FC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534009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484"/>
                </a:solidFill>
                <a:latin typeface="Microsoft YaHei"/>
              </a:rPr>
              <a:t>转多确认最强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56447" y="532180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34347"/>
                </a:solidFill>
                <a:latin typeface="Microsoft YaHei"/>
              </a:rPr>
              <a:t>0 只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54896" y="5266944"/>
            <a:ext cx="1755648" cy="530352"/>
          </a:xfrm>
          <a:prstGeom prst="roundRect">
            <a:avLst>
              <a:gd name="adj" fmla="val 12000"/>
            </a:avLst>
          </a:prstGeom>
          <a:solidFill>
            <a:srgbClr val="FFF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73768" y="534009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57484"/>
                </a:solidFill>
                <a:latin typeface="Microsoft YaHei"/>
              </a:rPr>
              <a:t>重点分组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94976" y="5321807"/>
            <a:ext cx="10058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8B36"/>
                </a:solidFill>
                <a:latin typeface="Microsoft YaHei"/>
              </a:rPr>
              <a:t>4 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数据口径：MA5 / MA10 四阶段｜仅供研究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转多结构：先看空转多确认，还是仍停留在蓄势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484"/>
                </a:solidFill>
                <a:latin typeface="Microsoft YaHei"/>
              </a:rPr>
              <a:t>按组规模净强度由强到弱；每组三块：空→空转多、空转多→多、空→多；右侧只看组级候选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9A6B5"/>
                </a:solidFill>
                <a:latin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11064240" cy="2286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444752"/>
          <a:ext cx="7315200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183879" y="1508760"/>
            <a:ext cx="340156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75904" y="1673352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484"/>
                </a:solidFill>
                <a:latin typeface="Microsoft YaHei"/>
              </a:rPr>
              <a:t>转多确认最强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75904" y="1901952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34347"/>
                </a:solidFill>
                <a:latin typeface="Microsoft YaHei"/>
              </a:rPr>
              <a:t>存储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75904" y="235000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33242"/>
                </a:solidFill>
                <a:latin typeface="Microsoft YaHei"/>
              </a:rPr>
              <a:t>空转多→多 0→0 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3090672"/>
            <a:ext cx="34015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3255264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484"/>
                </a:solidFill>
                <a:latin typeface="Microsoft YaHei"/>
              </a:rPr>
              <a:t>空转多→多数量最多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3502152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A1D30"/>
                </a:solidFill>
                <a:latin typeface="Microsoft YaHei"/>
              </a:rPr>
              <a:t>机器人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3858768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33242"/>
                </a:solidFill>
                <a:latin typeface="Microsoft YaHei"/>
              </a:rPr>
              <a:t>5 只｜多占比 80.0%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4572000"/>
            <a:ext cx="3401568" cy="1417320"/>
          </a:xfrm>
          <a:prstGeom prst="roundRect">
            <a:avLst>
              <a:gd name="adj" fmla="val 12000"/>
            </a:avLst>
          </a:prstGeom>
          <a:solidFill>
            <a:srgbClr val="EB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4718304"/>
            <a:ext cx="2971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57484"/>
                </a:solidFill>
                <a:latin typeface="Microsoft YaHei"/>
              </a:rPr>
              <a:t>最强低位转势候选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4965192"/>
            <a:ext cx="2971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366FAA"/>
                </a:solidFill>
                <a:latin typeface="Microsoft YaHei"/>
              </a:rPr>
              <a:t>半导体芯片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5330952"/>
            <a:ext cx="2971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233242"/>
                </a:solidFill>
                <a:latin typeface="Microsoft YaHei"/>
              </a:rPr>
              <a:t>多占比 18.0%｜空转多→多 3 只｜空→空转多 6 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数据口径：MA5 / MA10 四阶段｜仅供研究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转多力度排行：谁完成了转多确认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484"/>
                </a:solidFill>
                <a:latin typeface="Microsoft YaHei"/>
              </a:rPr>
              <a:t>按组规模标准化的净转多强度，由强到弱降序；跳级权重最高，反向转空计负分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9A6B5"/>
                </a:solidFill>
                <a:latin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11064240" cy="2286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" y="1444752"/>
          <a:ext cx="6995160" cy="46451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45552" y="1490472"/>
            <a:ext cx="3767328" cy="749808"/>
          </a:xfrm>
          <a:prstGeom prst="roundRect">
            <a:avLst>
              <a:gd name="adj" fmla="val 12000"/>
            </a:avLst>
          </a:prstGeom>
          <a:solidFill>
            <a:srgbClr val="0A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83296" y="162763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0B744"/>
                </a:solidFill>
                <a:latin typeface="Microsoft YaHei"/>
              </a:rPr>
              <a:t>NO.1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83296" y="1847088"/>
            <a:ext cx="3154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crosoft YaHei"/>
              </a:rPr>
              <a:t>存储  ·  36.4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845552" y="2441448"/>
          <a:ext cx="3767328" cy="3008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234440"/>
                <a:gridCol w="868680"/>
                <a:gridCol w="1161288"/>
              </a:tblGrid>
              <a:tr h="42976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#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分组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力度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A1D30"/>
                          </a:solidFill>
                          <a:latin typeface="Microsoft YaHei"/>
                        </a:defRPr>
                      </a:pPr>
                      <a:r>
                        <a:t>转多确认</a:t>
                      </a:r>
                    </a:p>
                  </a:txBody>
                  <a:tcPr marL="54864" marR="54864">
                    <a:solidFill>
                      <a:srgbClr val="E2E9F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存储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36.4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0只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半导体芯片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30.0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3只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MLCC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18.8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0只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机器人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15.7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5只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5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药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8.3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2只</a:t>
                      </a:r>
                    </a:p>
                  </a:txBody>
                  <a:tcPr marL="54864" marR="54864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6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CPO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D34347"/>
                          </a:solidFill>
                          <a:latin typeface="Microsoft YaHei"/>
                        </a:defRPr>
                      </a:pPr>
                      <a:r>
                        <a:t>6.1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233242"/>
                          </a:solidFill>
                          <a:latin typeface="Microsoft YaHei"/>
                        </a:defRPr>
                      </a:pPr>
                      <a:r>
                        <a:t>1只</a:t>
                      </a:r>
                    </a:p>
                  </a:txBody>
                  <a:tcPr marL="54864" marR="54864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882127" y="5468112"/>
            <a:ext cx="3675887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力度 =（3×空→多 + 2×空转多→多 + 1×空→空转多 − 反向转空加权）÷ 分组只数×100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数据口径：MA5 / MA10 四阶段｜仅供研究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A1D30"/>
                </a:solidFill>
                <a:latin typeface="Microsoft YaHei"/>
              </a:rPr>
              <a:t>次日关注：先看转多确认能否扩散，再排除反向转空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04672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57484"/>
                </a:solidFill>
                <a:latin typeface="Microsoft YaHei"/>
              </a:rPr>
              <a:t>按净转多强度由强到弱降序，只保留组级判断，不再展开个股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38404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9A6B5"/>
                </a:solidFill>
                <a:latin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11064240" cy="22860"/>
          </a:xfrm>
          <a:prstGeom prst="rect">
            <a:avLst/>
          </a:prstGeom>
          <a:solidFill>
            <a:srgbClr val="D9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73152" cy="1682496"/>
          </a:xfrm>
          <a:prstGeom prst="rect">
            <a:avLst/>
          </a:prstGeom>
          <a:solidFill>
            <a:srgbClr val="D3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184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存储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4096" y="1636776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34347"/>
                </a:solidFill>
                <a:latin typeface="Microsoft YaHei"/>
              </a:rPr>
              <a:t>36.4 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8424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空→多跳级 1 只；空→空转多蓄势 2 只；反向转空 1 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368296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0 只｜空→空转多 2 只｜多占比 27.3%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81328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481328"/>
            <a:ext cx="73152" cy="1682496"/>
          </a:xfrm>
          <a:prstGeom prst="rect">
            <a:avLst/>
          </a:prstGeom>
          <a:solidFill>
            <a:srgbClr val="D3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6184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半导体芯片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1636776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34347"/>
                </a:solidFill>
                <a:latin typeface="Microsoft YaHei"/>
              </a:rPr>
              <a:t>30.0 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98424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空→多跳级 1 只；空转多→多 0→3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368296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3 只｜空→空转多 6 只｜多占比 18.0%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11311" y="1481328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11311" y="1481328"/>
            <a:ext cx="73152" cy="1682496"/>
          </a:xfrm>
          <a:prstGeom prst="rect">
            <a:avLst/>
          </a:prstGeom>
          <a:solidFill>
            <a:srgbClr val="D34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6184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MLCC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1636776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34347"/>
                </a:solidFill>
                <a:latin typeface="Microsoft YaHei"/>
              </a:rPr>
              <a:t>18.8 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984248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空→多跳级 1 只；空→空转多蓄势 1 只；反向转空 1 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368296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0 只｜空→空转多 1 只｜多占比 6.2%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419856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419856"/>
            <a:ext cx="73152" cy="168249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3557016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机器人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54096" y="3575304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B36"/>
                </a:solidFill>
                <a:latin typeface="Microsoft YaHei"/>
              </a:rPr>
              <a:t>15.7 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3922776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空转多→多 2→5；反向转空 3 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306824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5 只｜空→空转多 4 只｜多占比 80.0%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419856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89120" y="3419856"/>
            <a:ext cx="73152" cy="168249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3557016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6288" y="3575304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B36"/>
                </a:solidFill>
                <a:latin typeface="Microsoft YaHei"/>
              </a:rPr>
              <a:t>8.3 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3922776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空转多→多 0→2；反向转空 4 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4306824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2 只｜空→空转多 12 只｜多占比 10.9%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11311" y="3419856"/>
            <a:ext cx="3584448" cy="16824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11311" y="3419856"/>
            <a:ext cx="73152" cy="1682496"/>
          </a:xfrm>
          <a:prstGeom prst="rect">
            <a:avLst/>
          </a:prstGeom>
          <a:solidFill>
            <a:srgbClr val="E88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3557016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A1D30"/>
                </a:solidFill>
                <a:latin typeface="Microsoft YaHei"/>
              </a:rPr>
              <a:t>CPO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3575304"/>
            <a:ext cx="877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8B36"/>
                </a:solidFill>
                <a:latin typeface="Microsoft YaHei"/>
              </a:rPr>
              <a:t>6.1 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922776"/>
            <a:ext cx="3154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233242"/>
                </a:solidFill>
                <a:latin typeface="Microsoft YaHei"/>
              </a:rPr>
              <a:t>空转多→多 0→1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306824"/>
            <a:ext cx="31546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657484"/>
                </a:solidFill>
                <a:latin typeface="Microsoft YaHei"/>
              </a:rPr>
              <a:t>空转多→多 1 只｜空→空转多 1 只｜多占比 2.0%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504688"/>
            <a:ext cx="10991088" cy="612648"/>
          </a:xfrm>
          <a:prstGeom prst="roundRect">
            <a:avLst>
              <a:gd name="adj" fmla="val 12000"/>
            </a:avLst>
          </a:prstGeom>
          <a:solidFill>
            <a:srgbClr val="EB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5641848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8C5E"/>
                </a:solidFill>
                <a:latin typeface="Microsoft YaHei"/>
              </a:rPr>
              <a:t>反向压力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5632704"/>
            <a:ext cx="9372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233242"/>
                </a:solidFill>
                <a:latin typeface="Microsoft YaHei"/>
              </a:rPr>
              <a:t>算力 转空 8 只｜商业航天 转空 6 只｜AI应用 转空 5 只｜药 转空 4 只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" y="6537960"/>
            <a:ext cx="7498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结论只基于 MA 结构迁移；次日仍需结合价格、量能和板块联动确认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20" y="6537960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4919F"/>
                </a:solidFill>
                <a:latin typeface="Microsoft YaHei"/>
              </a:rPr>
              <a:t>2026-10-28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多空趋势当日简报 2026-10-28</dc:title>
  <dc:subject>多空阶段迁移与次日关注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