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分组数</c:v>
                </c:pt>
              </c:strCache>
            </c:strRef>
          </c:tx>
          <c:dPt>
            <c:idx val="0"/>
            <c:spPr>
              <a:solidFill>
                <a:srgbClr val="A3262F"/>
              </a:solidFill>
            </c:spPr>
          </c:dPt>
          <c:dPt>
            <c:idx val="1"/>
            <c:spPr>
              <a:solidFill>
                <a:srgbClr val="D34347"/>
              </a:solidFill>
            </c:spPr>
          </c:dPt>
          <c:dPt>
            <c:idx val="2"/>
            <c:spPr>
              <a:solidFill>
                <a:srgbClr val="F0B744"/>
              </a:solidFill>
            </c:spPr>
          </c:dPt>
          <c:dPt>
            <c:idx val="3"/>
            <c:spPr>
              <a:solidFill>
                <a:srgbClr val="318C5E"/>
              </a:solidFill>
            </c:spPr>
          </c:dPt>
          <c:cat>
            <c:strRef>
              <c:f>Sheet1!$A$2:$A$5</c:f>
              <c:strCache>
                <c:ptCount val="4"/>
                <c:pt idx="0">
                  <c:v>强势改善</c:v>
                </c:pt>
                <c:pt idx="1">
                  <c:v>改善</c:v>
                </c:pt>
                <c:pt idx="2">
                  <c:v>平稳</c:v>
                </c:pt>
                <c:pt idx="3">
                  <c:v>恶化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latin typeface="Microsoft YaHe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转多迁移构成（只）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空→空转多</c:v>
                </c:pt>
              </c:strCache>
            </c:strRef>
          </c:tx>
          <c:spPr>
            <a:solidFill>
              <a:srgbClr val="F0B744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机器人</c:v>
                </c:pt>
                <c:pt idx="1">
                  <c:v>半导体芯片</c:v>
                </c:pt>
                <c:pt idx="2">
                  <c:v>存储</c:v>
                </c:pt>
                <c:pt idx="3">
                  <c:v>算力</c:v>
                </c:pt>
                <c:pt idx="4">
                  <c:v>光上游</c:v>
                </c:pt>
                <c:pt idx="5">
                  <c:v>药</c:v>
                </c:pt>
                <c:pt idx="6">
                  <c:v>MLCC</c:v>
                </c:pt>
                <c:pt idx="7">
                  <c:v>半导体设备</c:v>
                </c:pt>
                <c:pt idx="8">
                  <c:v>AI应用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</c:v>
                </c:pt>
                <c:pt idx="1">
                  <c:v>17</c:v>
                </c:pt>
                <c:pt idx="2">
                  <c:v>4</c:v>
                </c:pt>
                <c:pt idx="3">
                  <c:v>17</c:v>
                </c:pt>
                <c:pt idx="4">
                  <c:v>6</c:v>
                </c:pt>
                <c:pt idx="5">
                  <c:v>28</c:v>
                </c:pt>
                <c:pt idx="6">
                  <c:v>4</c:v>
                </c:pt>
                <c:pt idx="7">
                  <c:v>6</c:v>
                </c:pt>
                <c:pt idx="8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空转多→多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机器人</c:v>
                </c:pt>
                <c:pt idx="1">
                  <c:v>半导体芯片</c:v>
                </c:pt>
                <c:pt idx="2">
                  <c:v>存储</c:v>
                </c:pt>
                <c:pt idx="3">
                  <c:v>算力</c:v>
                </c:pt>
                <c:pt idx="4">
                  <c:v>光上游</c:v>
                </c:pt>
                <c:pt idx="5">
                  <c:v>药</c:v>
                </c:pt>
                <c:pt idx="6">
                  <c:v>MLCC</c:v>
                </c:pt>
                <c:pt idx="7">
                  <c:v>半导体设备</c:v>
                </c:pt>
                <c:pt idx="8">
                  <c:v>AI应用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23</c:v>
                </c:pt>
                <c:pt idx="1">
                  <c:v>7</c:v>
                </c:pt>
                <c:pt idx="2">
                  <c:v>1</c:v>
                </c:pt>
                <c:pt idx="3">
                  <c:v>9</c:v>
                </c:pt>
                <c:pt idx="4">
                  <c:v>2</c:v>
                </c:pt>
                <c:pt idx="5">
                  <c:v>3</c:v>
                </c:pt>
                <c:pt idx="6">
                  <c:v>0</c:v>
                </c:pt>
                <c:pt idx="7">
                  <c:v>2</c:v>
                </c:pt>
                <c:pt idx="8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空→多</c:v>
                </c:pt>
              </c:strCache>
            </c:strRef>
          </c:tx>
          <c:spPr>
            <a:solidFill>
              <a:srgbClr val="A3262F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机器人</c:v>
                </c:pt>
                <c:pt idx="1">
                  <c:v>半导体芯片</c:v>
                </c:pt>
                <c:pt idx="2">
                  <c:v>存储</c:v>
                </c:pt>
                <c:pt idx="3">
                  <c:v>算力</c:v>
                </c:pt>
                <c:pt idx="4">
                  <c:v>光上游</c:v>
                </c:pt>
                <c:pt idx="5">
                  <c:v>药</c:v>
                </c:pt>
                <c:pt idx="6">
                  <c:v>MLCC</c:v>
                </c:pt>
                <c:pt idx="7">
                  <c:v>半导体设备</c:v>
                </c:pt>
                <c:pt idx="8">
                  <c:v>AI应用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转多力度（每 100 只的净加权事件）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转多强度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机器人</c:v>
                </c:pt>
                <c:pt idx="1">
                  <c:v>半导体芯片</c:v>
                </c:pt>
                <c:pt idx="2">
                  <c:v>存储</c:v>
                </c:pt>
                <c:pt idx="3">
                  <c:v>算力</c:v>
                </c:pt>
                <c:pt idx="4">
                  <c:v>光上游</c:v>
                </c:pt>
                <c:pt idx="5">
                  <c:v>药</c:v>
                </c:pt>
                <c:pt idx="6">
                  <c:v>MLCC</c:v>
                </c:pt>
                <c:pt idx="7">
                  <c:v>半导体设备</c:v>
                </c:pt>
                <c:pt idx="8">
                  <c:v>AI应用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72.9</c:v>
                </c:pt>
                <c:pt idx="1">
                  <c:v>59.6</c:v>
                </c:pt>
                <c:pt idx="2">
                  <c:v>54.5</c:v>
                </c:pt>
                <c:pt idx="3">
                  <c:v>49.3</c:v>
                </c:pt>
                <c:pt idx="4">
                  <c:v>25.6</c:v>
                </c:pt>
                <c:pt idx="5">
                  <c:v>24.8</c:v>
                </c:pt>
                <c:pt idx="6">
                  <c:v>23.5</c:v>
                </c:pt>
                <c:pt idx="7">
                  <c:v>22.2</c:v>
                </c:pt>
                <c:pt idx="8">
                  <c:v>21.1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当日共 17 个分组；改善 15、恶化 1。转多力度第一为 机器人，强度 72.86。最强低位转势候选为 半导体芯片。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堆叠柱分别代表空转空转多、空转多转多、空直接转多。后两者更接近真实转多确认，空转空转多则是下一轮候选。最强低位转势候选：半导体芯片。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强度使用组规模标准化，避免大分组仅因成分多而排前。空→多权重 3，空转多→多权重 2，空→空转多权重 1；多→空权重 -2，多→多转空 -1.5，多转空→空和空转多→空各 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次日先看空转多转多能否继续扩散，再检查空转空转多的蓄势池。反向压力主要来自：商业航天 转空 10 只｜AI应用 转空 5 只｜电力 转空 4 只｜电网设备 转空 4 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53312"/>
          </a:xfrm>
          <a:prstGeom prst="rect">
            <a:avLst/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多空趋势 · 当日迁移简报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AE6"/>
                </a:solidFill>
                <a:latin typeface="Microsoft YaHei"/>
              </a:rPr>
              <a:t>从 MA5 / MA10 四阶段看结构切换，聚焦转多确认与次日扩散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5872" y="42976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CE4ED"/>
                </a:solidFill>
                <a:latin typeface="Microsoft YaHei"/>
              </a:rPr>
              <a:t>2026-10-23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8580" cy="1133856"/>
          </a:xfrm>
          <a:prstGeom prst="rect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覆盖分组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改善 15 · 恶化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8144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空 → 多 跳级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跨过空转多的最强信号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27632"/>
            <a:ext cx="68580" cy="113385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重点异动分组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达到强度或跳级门槛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627632"/>
            <a:ext cx="2450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783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转多力度第一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01168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机器人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48716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强度 72.9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3072384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D30"/>
                </a:solidFill>
                <a:latin typeface="Microsoft YaHei"/>
              </a:rPr>
              <a:t>全市场分组方向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58368" y="3456432"/>
          <a:ext cx="43434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321808" y="3246120"/>
            <a:ext cx="6291072" cy="2862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349300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4347"/>
                </a:solidFill>
                <a:latin typeface="Microsoft YaHei"/>
              </a:rPr>
              <a:t>今日一句话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822191"/>
            <a:ext cx="5623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3242"/>
                </a:solidFill>
                <a:latin typeface="Microsoft YaHei"/>
              </a:rPr>
              <a:t>机器人转多确认最强，半导体芯片以多占比 13.5% 成为最强低位转势候选，但同时提防商业航天、AI应用等反向转空。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96712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低位候选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6FAA"/>
                </a:solidFill>
                <a:latin typeface="Microsoft YaHei"/>
              </a:rPr>
              <a:t>半导体芯片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7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C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7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34347"/>
                </a:solidFill>
                <a:latin typeface="Microsoft YaHei"/>
              </a:rPr>
              <a:t>23 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FF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3768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重点分组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8B36"/>
                </a:solidFill>
                <a:latin typeface="Microsoft YaHei"/>
              </a:rPr>
              <a:t>7 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转多结构：先看空转多确认，还是仍停留在蓄势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按组规模净强度由强到弱；每组三块：空→空转多、空转多→多、空→多；右侧只看组级候选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731520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50876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75904" y="1673352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901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34347"/>
                </a:solidFill>
                <a:latin typeface="Microsoft YaHei"/>
              </a:rPr>
              <a:t>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3500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3242"/>
                </a:solidFill>
                <a:latin typeface="Microsoft YaHei"/>
              </a:rPr>
              <a:t>空转多→多 13→23 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090672"/>
            <a:ext cx="34015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325526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空转多→多数量最多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35021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D30"/>
                </a:solidFill>
                <a:latin typeface="Microsoft YaHei"/>
              </a:rPr>
              <a:t>机器人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58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33242"/>
                </a:solidFill>
                <a:latin typeface="Microsoft YaHei"/>
              </a:rPr>
              <a:t>23 只｜多占比 70.0%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57200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471830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最强低位转势候选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496519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66FAA"/>
                </a:solidFill>
                <a:latin typeface="Microsoft YaHei"/>
              </a:rPr>
              <a:t>半导体芯片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5330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233242"/>
                </a:solidFill>
                <a:latin typeface="Microsoft YaHei"/>
              </a:rPr>
              <a:t>多占比 13.5%｜空转多→多 7 只｜空→空转多 17 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转多力度排行：谁完成了转多确认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按组规模标准化的净转多强度，由强到弱降序；跳级权重最高，反向转空计负分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6995160" cy="4645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45552" y="1490472"/>
            <a:ext cx="3767328" cy="749808"/>
          </a:xfrm>
          <a:prstGeom prst="roundRect">
            <a:avLst>
              <a:gd name="adj" fmla="val 12000"/>
            </a:avLst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1627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NO.1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184708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机器人  ·  72.9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45552" y="2441448"/>
          <a:ext cx="3767328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234440"/>
                <a:gridCol w="868680"/>
                <a:gridCol w="1161288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分组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力度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转多确认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机器人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72.9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23只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半导体芯片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59.6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7只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存储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54.5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算力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49.3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9只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光上游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25.6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药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24.8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3只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82127" y="5468112"/>
            <a:ext cx="367588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力度 =（3×空→多 + 2×空转多→多 + 1×空→空转多 − 反向转空加权）÷ 分组只数×100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次日关注：先看转多确认能否扩散，再排除反向转空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按净转多强度由强到弱降序，只保留组级判断，不再展开个股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72.9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13→23；反向转空 1 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23 只｜空→空转多 6 只｜多占比 70.0%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半导体芯片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59.6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0→7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7 只｜空→空转多 17 只｜多占比 13.5%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1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1" y="1481328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54.5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1→1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1 只｜空→空转多 4 只｜多占比 18.2%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419856"/>
            <a:ext cx="73152" cy="168249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算力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34347"/>
                </a:solidFill>
                <a:latin typeface="Microsoft YaHei"/>
              </a:rPr>
              <a:t>49.3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空→多跳级 1 只；空转多→多 2→9；反向转空 1 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9 只｜空→空转多 17 只｜多占比 21.3%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光上游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25.6 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0→2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2 只｜空→空转多 6 只｜多占比 10.3%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1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1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24.8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2→3；反向转空 1 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3 只｜空→空转多 28 只｜多占比 12.0%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504688"/>
            <a:ext cx="10991088" cy="612648"/>
          </a:xfrm>
          <a:prstGeom prst="roundRect">
            <a:avLst>
              <a:gd name="adj" fmla="val 12000"/>
            </a:avLst>
          </a:prstGeom>
          <a:solidFill>
            <a:srgbClr val="E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64184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8C5E"/>
                </a:solidFill>
                <a:latin typeface="Microsoft YaHei"/>
              </a:rPr>
              <a:t>反向压力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632704"/>
            <a:ext cx="9372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33242"/>
                </a:solidFill>
                <a:latin typeface="Microsoft YaHei"/>
              </a:rPr>
              <a:t>商业航天 转空 10 只｜AI应用 转空 5 只｜电力 转空 4 只｜电网设备 转空 4 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结论只基于 MA 结构迁移；次日仍需结合价格、量能和板块联动确认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多空趋势当日简报 2026-10-23</dc:title>
  <dc:subject>多空阶段迁移与次日关注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