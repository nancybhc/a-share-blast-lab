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13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机器人</c:v>
                </c:pt>
                <c:pt idx="1">
                  <c:v>半导体芯片</c:v>
                </c:pt>
                <c:pt idx="2">
                  <c:v>算力</c:v>
                </c:pt>
                <c:pt idx="3">
                  <c:v>光上游</c:v>
                </c:pt>
                <c:pt idx="4">
                  <c:v>药</c:v>
                </c:pt>
                <c:pt idx="5">
                  <c:v>半导体设备</c:v>
                </c:pt>
                <c:pt idx="6">
                  <c:v>AI应用</c:v>
                </c:pt>
                <c:pt idx="7">
                  <c:v>PCB</c:v>
                </c:pt>
                <c:pt idx="8">
                  <c:v>商业航天</c:v>
                </c:pt>
              </c:strCache>
            </c:strRef>
          </c:cat>
          <c:val>
            <c:numRef>
              <c:f>Sheet1!$B$2:$B$10</c:f>
              <c:numCache>
                <c:formatCode>0</c:formatCode>
                <c:ptCount val="9"/>
                <c:pt idx="0">
                  <c:v>6.0</c:v>
                </c:pt>
                <c:pt idx="1">
                  <c:v>17.0</c:v>
                </c:pt>
                <c:pt idx="2">
                  <c:v>17.0</c:v>
                </c:pt>
                <c:pt idx="3">
                  <c:v>6.0</c:v>
                </c:pt>
                <c:pt idx="4">
                  <c:v>28.0</c:v>
                </c:pt>
                <c:pt idx="5">
                  <c:v>6.0</c:v>
                </c:pt>
                <c:pt idx="6">
                  <c:v>11.0</c:v>
                </c:pt>
                <c:pt idx="7">
                  <c:v>6.0</c:v>
                </c:pt>
                <c:pt idx="8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机器人</c:v>
                </c:pt>
                <c:pt idx="1">
                  <c:v>半导体芯片</c:v>
                </c:pt>
                <c:pt idx="2">
                  <c:v>算力</c:v>
                </c:pt>
                <c:pt idx="3">
                  <c:v>光上游</c:v>
                </c:pt>
                <c:pt idx="4">
                  <c:v>药</c:v>
                </c:pt>
                <c:pt idx="5">
                  <c:v>半导体设备</c:v>
                </c:pt>
                <c:pt idx="6">
                  <c:v>AI应用</c:v>
                </c:pt>
                <c:pt idx="7">
                  <c:v>PCB</c:v>
                </c:pt>
                <c:pt idx="8">
                  <c:v>商业航天</c:v>
                </c:pt>
              </c:strCache>
            </c:strRef>
          </c:cat>
          <c:val>
            <c:numRef>
              <c:f>Sheet1!$C$2:$C$10</c:f>
              <c:numCache>
                <c:formatCode>0</c:formatCode>
                <c:ptCount val="9"/>
                <c:pt idx="0">
                  <c:v>23.0</c:v>
                </c:pt>
                <c:pt idx="1">
                  <c:v>7.0</c:v>
                </c:pt>
                <c:pt idx="2">
                  <c:v>9.0</c:v>
                </c:pt>
                <c:pt idx="3">
                  <c:v>2.0</c:v>
                </c:pt>
                <c:pt idx="4">
                  <c:v>3.0</c:v>
                </c:pt>
                <c:pt idx="5">
                  <c:v>2.0</c:v>
                </c:pt>
                <c:pt idx="6">
                  <c:v>5.0</c:v>
                </c:pt>
                <c:pt idx="7">
                  <c:v>2.0</c:v>
                </c:pt>
                <c:pt idx="8">
                  <c:v>9.0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机器人</c:v>
                </c:pt>
                <c:pt idx="1">
                  <c:v>半导体芯片</c:v>
                </c:pt>
                <c:pt idx="2">
                  <c:v>算力</c:v>
                </c:pt>
                <c:pt idx="3">
                  <c:v>光上游</c:v>
                </c:pt>
                <c:pt idx="4">
                  <c:v>药</c:v>
                </c:pt>
                <c:pt idx="5">
                  <c:v>半导体设备</c:v>
                </c:pt>
                <c:pt idx="6">
                  <c:v>AI应用</c:v>
                </c:pt>
                <c:pt idx="7">
                  <c:v>PCB</c:v>
                </c:pt>
                <c:pt idx="8">
                  <c:v>商业航天</c:v>
                </c:pt>
              </c:strCache>
            </c:strRef>
          </c:cat>
          <c:val>
            <c:numRef>
              <c:f>Sheet1!$D$2:$D$10</c:f>
              <c:numCache>
                <c:formatCode>0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机器人</c:v>
                </c:pt>
                <c:pt idx="1">
                  <c:v>存储</c:v>
                </c:pt>
                <c:pt idx="2">
                  <c:v>半导体芯片</c:v>
                </c:pt>
                <c:pt idx="3">
                  <c:v>算力</c:v>
                </c:pt>
                <c:pt idx="4">
                  <c:v>光上游</c:v>
                </c:pt>
                <c:pt idx="5">
                  <c:v>MLCC</c:v>
                </c:pt>
                <c:pt idx="6">
                  <c:v>药</c:v>
                </c:pt>
                <c:pt idx="7">
                  <c:v>半导体设备</c:v>
                </c:pt>
                <c:pt idx="8">
                  <c:v>AI应用</c:v>
                </c:pt>
              </c:strCache>
            </c:strRef>
          </c:cat>
          <c:val>
            <c:numRef>
              <c:f>Sheet1!$B$2:$B$10</c:f>
              <c:numCache>
                <c:formatCode>0.0</c:formatCode>
                <c:ptCount val="9"/>
                <c:pt idx="0">
                  <c:v>72.9</c:v>
                </c:pt>
                <c:pt idx="1">
                  <c:v>72.7</c:v>
                </c:pt>
                <c:pt idx="2">
                  <c:v>59.6</c:v>
                </c:pt>
                <c:pt idx="3">
                  <c:v>49.3</c:v>
                </c:pt>
                <c:pt idx="4">
                  <c:v>25.6</c:v>
                </c:pt>
                <c:pt idx="5">
                  <c:v>25.0</c:v>
                </c:pt>
                <c:pt idx="6">
                  <c:v>24.1</c:v>
                </c:pt>
                <c:pt idx="7">
                  <c:v>22.2</c:v>
                </c:pt>
                <c:pt idx="8">
                  <c:v>21.1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15、恶化 1。转多力度第一为 机器人，强度 72.86。空→多直接跳级 2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堆叠柱分别代表空转空转多、空转多转多、空直接转多。后两者更接近真实兑现，空转空转多则是下一轮候选。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次日先看空转多转多能否继续扩散，再检查空转空转多的蓄势池。反向压力主要来自：商业航天 转空 10 只｜AI应用 转空 5 只｜电力 转空 4 只｜电网设备 转空 4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四阶段看结构切换，聚焦转多兑现与次日扩散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15 · 恶化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72.9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机器人为转多力度第一，空转多→多 23 只（前日 13）。全市场出现 2 个空→多跳级：PCB·华锐精密(688059)、算力·深圳华强(000062)。次日重点看强组能否继续兑现，同时提防商业航天、AI应用等反向转空。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53400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57484"/>
                </a:solidFill>
                <a:latin typeface="Microsoft YaHei"/>
              </a:rPr>
              <a:t>最强兑现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5" y="5321807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34347"/>
                </a:solidFill>
                <a:latin typeface="Microsoft YaHei"/>
              </a:rPr>
              <a:t>23 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53527" y="53400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3" y="5321807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8B36"/>
                </a:solidFill>
                <a:latin typeface="Microsoft YaHei"/>
              </a:rPr>
              <a:t>7 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92056" y="53400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57484"/>
                </a:solidFill>
                <a:latin typeface="Microsoft YaHei"/>
              </a:rPr>
              <a:t>转空加速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4432" y="5321807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18C5E"/>
                </a:solidFill>
                <a:latin typeface="Microsoft YaHei"/>
              </a:rPr>
              <a:t>1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转多结构：先看空转多兑现，还是仍停留在蓄势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每组三块：空→空转多（蓄势）、空转多→多（兑现）、空→多（跳级）；按净转多强度从强到弱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最强兑现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机器人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13→23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23 只｜多占比 70.0%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3659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空→多跳级个股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5010912"/>
            <a:ext cx="29718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3262F"/>
                </a:solidFill>
                <a:latin typeface="Microsoft YaHei"/>
              </a:rPr>
              <a:t>PCB：华锐精密(688059)
算力：深圳华强(000062)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转多力度排行：谁在真正兑现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机器人  ·  72.9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兑现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72.9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23只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存储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72.7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半导体芯片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59.6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7只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算力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49.3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9只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光上游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25.6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25.0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次日关注：先看兑现能否扩散，再排除反向转空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按净转多强度从强到弱排列；同步标注兑现、跳级与反向压力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72.9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13→23；反向转空 1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657484"/>
                </a:solidFill>
                <a:latin typeface="Microsoft YaHei"/>
              </a:rPr>
              <a:t>三瑞智能(301696)、宜安科技(300328) 等 23 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9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79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49.3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2→9；反向转空 1 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657484"/>
                </a:solidFill>
                <a:latin typeface="Microsoft YaHei"/>
              </a:rPr>
              <a:t>深圳华强(000062)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商业航天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13.5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0→9；反向转空 10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657484"/>
                </a:solidFill>
                <a:latin typeface="Microsoft YaHei"/>
              </a:rPr>
              <a:t>派克新材(605123)、航发控制(000738) 等 9 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半导体芯片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59.6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657484"/>
                </a:solidFill>
                <a:latin typeface="Microsoft YaHei"/>
              </a:rPr>
              <a:t>博通集成(603068)、瑞芯微(603893) 等 7 只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21.1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1→5；反向转空 5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657484"/>
                </a:solidFill>
                <a:latin typeface="Microsoft YaHei"/>
              </a:rPr>
              <a:t>汉得信息(300170)、达实智能(002421) 等 5 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90289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PCB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9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15.7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9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0→2；反向转空 2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0289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657484"/>
                </a:solidFill>
                <a:latin typeface="Microsoft YaHei"/>
              </a:rPr>
              <a:t>华锐精密(688059)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商业航天 转空 10 只｜AI应用 转空 5 只｜电力 转空 4 只｜电网设备 转空 4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2026-10-23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