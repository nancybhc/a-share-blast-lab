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分组数</c:v>
                </c:pt>
              </c:strCache>
            </c:strRef>
          </c:tx>
          <c:dPt>
            <c:idx val="0"/>
            <c:spPr>
              <a:solidFill>
                <a:srgbClr val="A3262F"/>
              </a:solidFill>
            </c:spPr>
          </c:dPt>
          <c:dPt>
            <c:idx val="1"/>
            <c:spPr>
              <a:solidFill>
                <a:srgbClr val="D34347"/>
              </a:solidFill>
            </c:spPr>
          </c:dPt>
          <c:dPt>
            <c:idx val="2"/>
            <c:spPr>
              <a:solidFill>
                <a:srgbClr val="F0B744"/>
              </a:solidFill>
            </c:spPr>
          </c:dPt>
          <c:dPt>
            <c:idx val="3"/>
            <c:spPr>
              <a:solidFill>
                <a:srgbClr val="318C5E"/>
              </a:solidFill>
            </c:spPr>
          </c:dPt>
          <c:cat>
            <c:strRef>
              <c:f>Sheet1!$A$2:$A$5</c:f>
              <c:strCache>
                <c:ptCount val="4"/>
                <c:pt idx="0">
                  <c:v>强势改善</c:v>
                </c:pt>
                <c:pt idx="1">
                  <c:v>改善</c:v>
                </c:pt>
                <c:pt idx="2">
                  <c:v>平稳</c:v>
                </c:pt>
                <c:pt idx="3">
                  <c:v>恶化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1</c:v>
                </c:pt>
                <c:pt idx="2">
                  <c:v>1</c:v>
                </c:pt>
                <c:pt idx="3">
                  <c:v>16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900">
          <a:latin typeface="Microsoft YaHei"/>
        </a:defRPr>
      </a:pPr>
      <a:endParaRPr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00" b="1">
                <a:latin typeface="Microsoft YaHei"/>
              </a:defRPr>
            </a:pPr>
            <a:r>
              <a:t>转多迁移构成（只）</a:t>
            </a:r>
          </a:p>
        </c:rich>
      </c:tx>
      <c:layout/>
      <c:overlay val="0"/>
    </c:title>
    <c:autoTitleDeleted val="0"/>
    <c:plotArea>
      <c:barChart>
        <c:barDir val="bar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空→空转多</c:v>
                </c:pt>
              </c:strCache>
            </c:strRef>
          </c:tx>
          <c:spPr>
            <a:solidFill>
              <a:srgbClr val="F0B744"/>
            </a:solidFill>
            <a:ln>
              <a:noFill/>
            </a:ln>
          </c:spPr>
          <c:dLbls>
            <c:txPr>
              <a:bodyPr/>
              <a:lstStyle/>
              <a:p>
                <a:pPr>
                  <a:defRPr sz="800">
                    <a:solidFill>
                      <a:srgbClr val="233242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药</c:v>
                </c:pt>
                <c:pt idx="1">
                  <c:v>MLCC</c:v>
                </c:pt>
                <c:pt idx="2">
                  <c:v>CPO</c:v>
                </c:pt>
                <c:pt idx="3">
                  <c:v>黄金白银</c:v>
                </c:pt>
                <c:pt idx="4">
                  <c:v>半导体上游</c:v>
                </c:pt>
                <c:pt idx="5">
                  <c:v>电力</c:v>
                </c:pt>
                <c:pt idx="6">
                  <c:v>PCB</c:v>
                </c:pt>
                <c:pt idx="7">
                  <c:v>互金证券</c:v>
                </c:pt>
                <c:pt idx="8">
                  <c:v>散热液冷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  <c:pt idx="4">
                  <c:v>0</c:v>
                </c:pt>
                <c:pt idx="5">
                  <c:v>1</c:v>
                </c:pt>
                <c:pt idx="6">
                  <c:v>1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空转多→多</c:v>
                </c:pt>
              </c:strCache>
            </c:strRef>
          </c:tx>
          <c:spPr>
            <a:solidFill>
              <a:srgbClr val="D34347"/>
            </a:solidFill>
            <a:ln>
              <a:noFill/>
            </a:ln>
          </c:spPr>
          <c:dLbls>
            <c:txPr>
              <a:bodyPr/>
              <a:lstStyle/>
              <a:p>
                <a:pPr>
                  <a:defRPr sz="800">
                    <a:solidFill>
                      <a:srgbClr val="233242"/>
                    </a:solidFill>
                    <a:latin typeface="Microsoft YaHe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Sheet1!$A$2:$A$10</c:f>
              <c:strCache>
                <c:ptCount val="9"/>
                <c:pt idx="0">
                  <c:v>药</c:v>
                </c:pt>
                <c:pt idx="1">
                  <c:v>MLCC</c:v>
                </c:pt>
                <c:pt idx="2">
                  <c:v>CPO</c:v>
                </c:pt>
                <c:pt idx="3">
                  <c:v>黄金白银</c:v>
                </c:pt>
                <c:pt idx="4">
                  <c:v>半导体上游</c:v>
                </c:pt>
                <c:pt idx="5">
                  <c:v>电力</c:v>
                </c:pt>
                <c:pt idx="6">
                  <c:v>PCB</c:v>
                </c:pt>
                <c:pt idx="7">
                  <c:v>互金证券</c:v>
                </c:pt>
                <c:pt idx="8">
                  <c:v>散热液冷</c:v>
                </c:pt>
              </c:strCache>
            </c: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11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1</c:v>
                </c:pt>
                <c:pt idx="8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空→多</c:v>
                </c:pt>
              </c:strCache>
            </c:strRef>
          </c:tx>
          <c:spPr>
            <a:solidFill>
              <a:srgbClr val="A3262F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药</c:v>
                </c:pt>
                <c:pt idx="1">
                  <c:v>MLCC</c:v>
                </c:pt>
                <c:pt idx="2">
                  <c:v>CPO</c:v>
                </c:pt>
                <c:pt idx="3">
                  <c:v>黄金白银</c:v>
                </c:pt>
                <c:pt idx="4">
                  <c:v>半导体上游</c:v>
                </c:pt>
                <c:pt idx="5">
                  <c:v>电力</c:v>
                </c:pt>
                <c:pt idx="6">
                  <c:v>PCB</c:v>
                </c:pt>
                <c:pt idx="7">
                  <c:v>互金证券</c:v>
                </c:pt>
                <c:pt idx="8">
                  <c:v>散热液冷</c:v>
                </c:pt>
              </c:strCache>
            </c: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</c:numCache>
            </c:numRef>
          </c:val>
        </c:ser>
        <c:gapWidth val="55"/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9E0E8"/>
            </a:solidFill>
          </a:ln>
        </c:spPr>
        <c:txPr>
          <a:bodyPr/>
          <a:lstStyle/>
          <a:p>
            <a:pPr>
              <a:defRPr sz="900">
                <a:latin typeface="Microsoft Ya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8ECF1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>
                <a:latin typeface="Microsoft YaHei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900">
              <a:latin typeface="Microsoft YaHei"/>
            </a:defRPr>
          </a:pPr>
        </a:p>
      </c:txPr>
    </c:legend>
    <c:dispBlanksAs val="gap"/>
  </c:chart>
  <c:txPr>
    <a:bodyPr/>
    <a:lstStyle/>
    <a:p>
      <a:pPr>
        <a:defRPr sz="900">
          <a:latin typeface="Microsoft YaHei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00" b="1">
                <a:latin typeface="Microsoft YaHei"/>
              </a:defRPr>
            </a:pPr>
            <a:r>
              <a:t>转多力度（每 100 只的净加权事件）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转多强度</c:v>
                </c:pt>
              </c:strCache>
            </c:strRef>
          </c:tx>
          <c:spPr>
            <a:solidFill>
              <a:srgbClr val="D34347"/>
            </a:solidFill>
            <a:ln>
              <a:noFill/>
            </a:ln>
          </c:spPr>
          <c:cat>
            <c:strRef>
              <c:f>Sheet1!$A$2:$A$10</c:f>
              <c:strCache>
                <c:ptCount val="9"/>
                <c:pt idx="0">
                  <c:v>药</c:v>
                </c:pt>
                <c:pt idx="1">
                  <c:v>MLCC</c:v>
                </c:pt>
                <c:pt idx="2">
                  <c:v>CPO</c:v>
                </c:pt>
                <c:pt idx="3">
                  <c:v>黄金白银</c:v>
                </c:pt>
                <c:pt idx="4">
                  <c:v>半导体上游</c:v>
                </c:pt>
                <c:pt idx="5">
                  <c:v>电力</c:v>
                </c:pt>
                <c:pt idx="6">
                  <c:v>PCB</c:v>
                </c:pt>
                <c:pt idx="7">
                  <c:v>互金证券</c:v>
                </c:pt>
                <c:pt idx="8">
                  <c:v>散热液冷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4.3</c:v>
                </c:pt>
                <c:pt idx="1">
                  <c:v>0.0</c:v>
                </c:pt>
                <c:pt idx="2">
                  <c:v>-2.0</c:v>
                </c:pt>
                <c:pt idx="3">
                  <c:v>-4.5</c:v>
                </c:pt>
                <c:pt idx="4">
                  <c:v>-6.1</c:v>
                </c:pt>
                <c:pt idx="5">
                  <c:v>-6.2</c:v>
                </c:pt>
                <c:pt idx="6">
                  <c:v>-6.4</c:v>
                </c:pt>
                <c:pt idx="7">
                  <c:v>-6.6</c:v>
                </c:pt>
                <c:pt idx="8">
                  <c:v>-7.5</c:v>
                </c:pt>
              </c:numCache>
            </c:numRef>
          </c:val>
        </c:ser>
        <c:dLbls>
          <c:txPr>
            <a:bodyPr/>
            <a:lstStyle/>
            <a:p>
              <a:pPr>
                <a:defRPr sz="850" b="1">
                  <a:latin typeface="Microsoft YaHe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8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D9E0E8"/>
            </a:solidFill>
          </a:ln>
        </c:spPr>
        <c:txPr>
          <a:bodyPr/>
          <a:lstStyle/>
          <a:p>
            <a:pPr>
              <a:defRPr sz="900">
                <a:latin typeface="Microsoft Ya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E8ECF1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50">
                <a:latin typeface="Microsoft YaHe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900">
          <a:latin typeface="Microsoft YaHe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当日共 18 个分组；改善 1、恶化 16。转多力度第一为 药，强度 4.32。最强低位转势候选为 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堆叠柱分别代表空转空转多、空转多转多、空直接转多。后两者更接近真实转多确认，空转空转多则是下一轮候选。最强低位转势候选：无。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强度使用组规模标准化，避免大分组仅因成分多而排前。空→多权重 3，空转多→多权重 2，空→空转多权重 1；多→空权重 -2，多→多转空 -1.5，多转空→空和空转多→空各 -1。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次日先看空转多转多能否继续扩散，再检查空转空转多的蓄势池。反向压力主要来自：AI应用 转空 40 只｜机器人 转空 39 只｜商业航天 转空 32 只｜半导体芯片 转空 20 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53312"/>
          </a:xfrm>
          <a:prstGeom prst="rect">
            <a:avLst/>
          </a:prstGeom>
          <a:solidFill>
            <a:srgbClr val="0A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310896"/>
            <a:ext cx="9875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Microsoft YaHei"/>
              </a:rPr>
              <a:t>多空趋势 · 当日迁移简报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50392"/>
            <a:ext cx="8961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CFDAE6"/>
                </a:solidFill>
                <a:latin typeface="Microsoft YaHei"/>
              </a:rPr>
              <a:t>从 MA5 / MA10 四阶段看结构切换，聚焦转多确认与次日扩散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05872" y="429768"/>
            <a:ext cx="1234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CE4ED"/>
                </a:solidFill>
                <a:latin typeface="Microsoft YaHei"/>
              </a:rPr>
              <a:t>2026-10-30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27632"/>
            <a:ext cx="2606040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627632"/>
            <a:ext cx="68580" cy="1133856"/>
          </a:xfrm>
          <a:prstGeom prst="rect">
            <a:avLst/>
          </a:prstGeom>
          <a:solidFill>
            <a:srgbClr val="366F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783080"/>
            <a:ext cx="22585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57484"/>
                </a:solidFill>
                <a:latin typeface="Microsoft YaHei"/>
              </a:rPr>
              <a:t>覆盖分组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011680"/>
            <a:ext cx="2258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487168"/>
            <a:ext cx="2258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改善 1 · 恶化 16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38144" y="1627632"/>
            <a:ext cx="2606040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38144" y="1627632"/>
            <a:ext cx="68580" cy="1133856"/>
          </a:xfrm>
          <a:prstGeom prst="rect">
            <a:avLst/>
          </a:prstGeom>
          <a:solidFill>
            <a:srgbClr val="D3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9312" y="1783080"/>
            <a:ext cx="22585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57484"/>
                </a:solidFill>
                <a:latin typeface="Microsoft YaHei"/>
              </a:rPr>
              <a:t>空 → 多 跳级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9312" y="2011680"/>
            <a:ext cx="2258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9312" y="2487168"/>
            <a:ext cx="2258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跨过空转多的最强信号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627632"/>
            <a:ext cx="2606040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627632"/>
            <a:ext cx="68580" cy="1133856"/>
          </a:xfrm>
          <a:prstGeom prst="rect">
            <a:avLst/>
          </a:prstGeom>
          <a:solidFill>
            <a:srgbClr val="E8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10528" y="1783080"/>
            <a:ext cx="225856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57484"/>
                </a:solidFill>
                <a:latin typeface="Microsoft YaHei"/>
              </a:rPr>
              <a:t>重点异动分组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528" y="2011680"/>
            <a:ext cx="2258568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528" y="2487168"/>
            <a:ext cx="2258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达到强度或跳级门槛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0576" y="1627632"/>
            <a:ext cx="2450592" cy="113385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180576" y="1627632"/>
            <a:ext cx="68580" cy="1133856"/>
          </a:xfrm>
          <a:prstGeom prst="rect">
            <a:avLst/>
          </a:prstGeom>
          <a:solidFill>
            <a:srgbClr val="D343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81744" y="1783080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657484"/>
                </a:solidFill>
                <a:latin typeface="Microsoft YaHei"/>
              </a:rPr>
              <a:t>转多力度第一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81744" y="2011680"/>
            <a:ext cx="21031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药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81744" y="2487168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强度 4.3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3072384"/>
            <a:ext cx="4663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A1D30"/>
                </a:solidFill>
                <a:latin typeface="Microsoft YaHei"/>
              </a:rPr>
              <a:t>全市场分组方向</a:t>
            </a:r>
          </a:p>
        </p:txBody>
      </p:sp>
      <p:graphicFrame>
        <p:nvGraphicFramePr>
          <p:cNvPr id="27" name="Chart 26"/>
          <p:cNvGraphicFramePr>
            <a:graphicFrameLocks noGrp="1"/>
          </p:cNvGraphicFramePr>
          <p:nvPr/>
        </p:nvGraphicFramePr>
        <p:xfrm>
          <a:off x="658368" y="3456432"/>
          <a:ext cx="4343400" cy="26517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321808" y="3246120"/>
            <a:ext cx="6291072" cy="28620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96128" y="3493008"/>
            <a:ext cx="3383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D34347"/>
                </a:solidFill>
                <a:latin typeface="Microsoft YaHei"/>
              </a:rPr>
              <a:t>今日一句话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96128" y="3822191"/>
            <a:ext cx="562356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 i="0">
                <a:solidFill>
                  <a:srgbClr val="233242"/>
                </a:solidFill>
                <a:latin typeface="Microsoft YaHei"/>
              </a:rPr>
              <a:t>药转多确认最强，当前没有满足低位条件的转势候选，但同时提防AI应用、机器人等反向转空。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577840" y="5266944"/>
            <a:ext cx="1755648" cy="530352"/>
          </a:xfrm>
          <a:prstGeom prst="roundRect">
            <a:avLst>
              <a:gd name="adj" fmla="val 12000"/>
            </a:avLst>
          </a:prstGeom>
          <a:solidFill>
            <a:srgbClr val="EB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696712" y="534009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57484"/>
                </a:solidFill>
                <a:latin typeface="Microsoft YaHei"/>
              </a:rPr>
              <a:t>低位候选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5321807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366FAA"/>
                </a:solidFill>
                <a:latin typeface="Microsoft YaHei"/>
              </a:rPr>
              <a:t>暂无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16367" y="5266944"/>
            <a:ext cx="1755648" cy="530352"/>
          </a:xfrm>
          <a:prstGeom prst="roundRect">
            <a:avLst>
              <a:gd name="adj" fmla="val 12000"/>
            </a:avLst>
          </a:prstGeom>
          <a:solidFill>
            <a:srgbClr val="FCED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5240" y="534009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57484"/>
                </a:solidFill>
                <a:latin typeface="Microsoft YaHei"/>
              </a:rPr>
              <a:t>转多确认最强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56447" y="5321807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D34347"/>
                </a:solidFill>
                <a:latin typeface="Microsoft YaHei"/>
              </a:rPr>
              <a:t>11 只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454896" y="5266944"/>
            <a:ext cx="1755648" cy="530352"/>
          </a:xfrm>
          <a:prstGeom prst="roundRect">
            <a:avLst>
              <a:gd name="adj" fmla="val 12000"/>
            </a:avLst>
          </a:prstGeom>
          <a:solidFill>
            <a:srgbClr val="FFF7E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573768" y="5340096"/>
            <a:ext cx="640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657484"/>
                </a:solidFill>
                <a:latin typeface="Microsoft YaHei"/>
              </a:rPr>
              <a:t>重点分组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94976" y="5321807"/>
            <a:ext cx="1005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E88B36"/>
                </a:solidFill>
                <a:latin typeface="Microsoft YaHei"/>
              </a:rPr>
              <a:t>11 个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16" y="653796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数据口径：MA5 / MA10 四阶段｜仅供研究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75520" y="65379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2026-10-30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转多结构：先看空转多确认，还是仍停留在蓄势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04672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57484"/>
                </a:solidFill>
                <a:latin typeface="Microsoft YaHei"/>
              </a:rPr>
              <a:t>按组规模净强度由强到弱；每组三块：空→空转多、空转多→多、空→多；右侧只看组级候选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384048"/>
            <a:ext cx="594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9A6B5"/>
                </a:solidFill>
                <a:latin typeface="Microsoft YaHei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8720"/>
            <a:ext cx="11064240" cy="22860"/>
          </a:xfrm>
          <a:prstGeom prst="rect">
            <a:avLst/>
          </a:prstGeom>
          <a:solidFill>
            <a:srgbClr val="D9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444752"/>
          <a:ext cx="7315200" cy="4617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8183879" y="1508760"/>
            <a:ext cx="3401568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75904" y="1673352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484"/>
                </a:solidFill>
                <a:latin typeface="Microsoft YaHei"/>
              </a:rPr>
              <a:t>转多确认最强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75904" y="1901952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D34347"/>
                </a:solidFill>
                <a:latin typeface="Microsoft YaHei"/>
              </a:rPr>
              <a:t>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75904" y="2350008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233242"/>
                </a:solidFill>
                <a:latin typeface="Microsoft YaHei"/>
              </a:rPr>
              <a:t>空转多→多 4→11 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83879" y="3090672"/>
            <a:ext cx="3401568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75904" y="3255264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484"/>
                </a:solidFill>
                <a:latin typeface="Microsoft YaHei"/>
              </a:rPr>
              <a:t>空转多→多数量最多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75904" y="3502152"/>
            <a:ext cx="2971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0A1D30"/>
                </a:solidFill>
                <a:latin typeface="Microsoft YaHei"/>
              </a:rPr>
              <a:t>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75904" y="3858768"/>
            <a:ext cx="2926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233242"/>
                </a:solidFill>
                <a:latin typeface="Microsoft YaHei"/>
              </a:rPr>
              <a:t>11 只｜多占比 18.0%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83879" y="4572000"/>
            <a:ext cx="3401568" cy="1417320"/>
          </a:xfrm>
          <a:prstGeom prst="roundRect">
            <a:avLst>
              <a:gd name="adj" fmla="val 12000"/>
            </a:avLst>
          </a:prstGeom>
          <a:solidFill>
            <a:srgbClr val="EBF3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85048" y="4718304"/>
            <a:ext cx="2971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657484"/>
                </a:solidFill>
                <a:latin typeface="Microsoft YaHei"/>
              </a:rPr>
              <a:t>最强低位转势候选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4965192"/>
            <a:ext cx="2971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366FAA"/>
                </a:solidFill>
                <a:latin typeface="Microsoft YaHei"/>
              </a:rPr>
              <a:t>暂无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5048" y="5330952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0" b="0" i="0">
                <a:solidFill>
                  <a:srgbClr val="233242"/>
                </a:solidFill>
                <a:latin typeface="Microsoft YaHei"/>
              </a:rPr>
              <a:t>没有同时满足低位与转势条件的组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" y="653796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数据口径：MA5 / MA10 四阶段｜仅供研究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65379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2026-10-30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转多力度排行：谁完成了转多确认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04672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57484"/>
                </a:solidFill>
                <a:latin typeface="Microsoft YaHei"/>
              </a:rPr>
              <a:t>按组规模标准化的净转多强度，由强到弱降序；跳级权重最高，反向转空计负分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384048"/>
            <a:ext cx="594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9A6B5"/>
                </a:solidFill>
                <a:latin typeface="Microsoft YaHei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8720"/>
            <a:ext cx="11064240" cy="22860"/>
          </a:xfrm>
          <a:prstGeom prst="rect">
            <a:avLst/>
          </a:prstGeom>
          <a:solidFill>
            <a:srgbClr val="D9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66928" y="1444752"/>
          <a:ext cx="6995160" cy="464515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845552" y="1490472"/>
            <a:ext cx="3767328" cy="749808"/>
          </a:xfrm>
          <a:prstGeom prst="roundRect">
            <a:avLst>
              <a:gd name="adj" fmla="val 12000"/>
            </a:avLst>
          </a:prstGeom>
          <a:solidFill>
            <a:srgbClr val="0A1D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83296" y="1627632"/>
            <a:ext cx="1097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0B744"/>
                </a:solidFill>
                <a:latin typeface="Microsoft YaHei"/>
              </a:rPr>
              <a:t>NO.1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83296" y="1847088"/>
            <a:ext cx="3154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Microsoft YaHei"/>
              </a:rPr>
              <a:t>药  ·  4.3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845552" y="2441448"/>
          <a:ext cx="3767328" cy="3008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1234440"/>
                <a:gridCol w="868680"/>
                <a:gridCol w="1161288"/>
              </a:tblGrid>
              <a:tr h="429768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A1D30"/>
                          </a:solidFill>
                          <a:latin typeface="Microsoft YaHei"/>
                        </a:defRPr>
                      </a:pPr>
                      <a:r>
                        <a:t>#</a:t>
                      </a:r>
                    </a:p>
                  </a:txBody>
                  <a:tcPr marL="54864" marR="54864">
                    <a:solidFill>
                      <a:srgbClr val="E2E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A1D30"/>
                          </a:solidFill>
                          <a:latin typeface="Microsoft YaHei"/>
                        </a:defRPr>
                      </a:pPr>
                      <a:r>
                        <a:t>分组</a:t>
                      </a:r>
                    </a:p>
                  </a:txBody>
                  <a:tcPr marL="54864" marR="54864">
                    <a:solidFill>
                      <a:srgbClr val="E2E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A1D30"/>
                          </a:solidFill>
                          <a:latin typeface="Microsoft YaHei"/>
                        </a:defRPr>
                      </a:pPr>
                      <a:r>
                        <a:t>力度</a:t>
                      </a:r>
                    </a:p>
                  </a:txBody>
                  <a:tcPr marL="54864" marR="54864">
                    <a:solidFill>
                      <a:srgbClr val="E2E9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A1D30"/>
                          </a:solidFill>
                          <a:latin typeface="Microsoft YaHei"/>
                        </a:defRPr>
                      </a:pPr>
                      <a:r>
                        <a:t>转多确认</a:t>
                      </a:r>
                    </a:p>
                  </a:txBody>
                  <a:tcPr marL="54864" marR="54864">
                    <a:solidFill>
                      <a:srgbClr val="E2E9F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1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药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4.3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11只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2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MLCC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0.0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0只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3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CPO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-2.0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0只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4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黄金白银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-4.5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0只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5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半导体上游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-6.1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0只</a:t>
                      </a:r>
                    </a:p>
                  </a:txBody>
                  <a:tcPr marL="54864" marR="54864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6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900" b="1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电力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D34347"/>
                          </a:solidFill>
                          <a:latin typeface="Microsoft YaHei"/>
                        </a:defRPr>
                      </a:pPr>
                      <a:r>
                        <a:t>-6.2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0">
                          <a:solidFill>
                            <a:srgbClr val="233242"/>
                          </a:solidFill>
                          <a:latin typeface="Microsoft YaHei"/>
                        </a:defRPr>
                      </a:pPr>
                      <a:r>
                        <a:t>0只</a:t>
                      </a:r>
                    </a:p>
                  </a:txBody>
                  <a:tcPr marL="54864" marR="54864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882127" y="5468112"/>
            <a:ext cx="3675887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力度 =（3×空→多 + 2×空转多→多 + 1×空→空转多 − 反向转空加权）÷ 分组只数×100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16" y="653796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数据口径：MA5 / MA10 四阶段｜仅供研究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5379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2026-10-30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875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0A1D30"/>
                </a:solidFill>
                <a:latin typeface="Microsoft YaHei"/>
              </a:rPr>
              <a:t>次日关注：先看转多确认能否扩散，再排除反向转空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804672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657484"/>
                </a:solidFill>
                <a:latin typeface="Microsoft YaHei"/>
              </a:rPr>
              <a:t>按净转多强度由强到弱降序，只保留组级判断，不再展开个股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64240" y="384048"/>
            <a:ext cx="594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99A6B5"/>
                </a:solidFill>
                <a:latin typeface="Microsoft YaHei"/>
              </a:rPr>
              <a:t>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188720"/>
            <a:ext cx="11064240" cy="22860"/>
          </a:xfrm>
          <a:prstGeom prst="rect">
            <a:avLst/>
          </a:prstGeom>
          <a:solidFill>
            <a:srgbClr val="D9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1481328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481328"/>
            <a:ext cx="73152" cy="1682496"/>
          </a:xfrm>
          <a:prstGeom prst="rect">
            <a:avLst/>
          </a:prstGeom>
          <a:solidFill>
            <a:srgbClr val="E88B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61848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54096" y="1636776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8B36"/>
                </a:solidFill>
                <a:latin typeface="Microsoft YaHei"/>
              </a:rPr>
              <a:t>4.3 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1984248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空转多→多 4→11；反向转空 20 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2368296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11 只｜空→空转多 6 只｜多占比 18.0%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481328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89120" y="1481328"/>
            <a:ext cx="73152" cy="1682496"/>
          </a:xfrm>
          <a:prstGeom prst="rect">
            <a:avLst/>
          </a:prstGeom>
          <a:solidFill>
            <a:srgbClr val="F0B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0288" y="161848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MLCC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76288" y="1636776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0B744"/>
                </a:solidFill>
                <a:latin typeface="Microsoft YaHei"/>
              </a:rPr>
              <a:t>0.0 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0288" y="1984248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变化有限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90288" y="2368296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0 只｜空→空转多 0 只｜多占比 6.7%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11311" y="1481328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11311" y="1481328"/>
            <a:ext cx="73152" cy="1682496"/>
          </a:xfrm>
          <a:prstGeom prst="rect">
            <a:avLst/>
          </a:prstGeom>
          <a:solidFill>
            <a:srgbClr val="F0B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1618488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CPO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98480" y="1636776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0B744"/>
                </a:solidFill>
                <a:latin typeface="Microsoft YaHei"/>
              </a:rPr>
              <a:t>-2.0 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1984248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反向转空 1 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368296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0 只｜空→空转多 0 只｜多占比 0.0%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419856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66928" y="3419856"/>
            <a:ext cx="73152" cy="1682496"/>
          </a:xfrm>
          <a:prstGeom prst="rect">
            <a:avLst/>
          </a:prstGeom>
          <a:solidFill>
            <a:srgbClr val="F0B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3557016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黄金白银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054096" y="3575304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0B744"/>
                </a:solidFill>
                <a:latin typeface="Microsoft YaHei"/>
              </a:rPr>
              <a:t>-4.5 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3922776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空→空转多蓄势 1 只；反向转空 2 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4306824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0 只｜空→空转多 1 只｜多占比 0.0%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89120" y="3419856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389120" y="3419856"/>
            <a:ext cx="73152" cy="1682496"/>
          </a:xfrm>
          <a:prstGeom prst="rect">
            <a:avLst/>
          </a:prstGeom>
          <a:solidFill>
            <a:srgbClr val="F0B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90288" y="3557016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半导体上游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76288" y="3575304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0B744"/>
                </a:solidFill>
                <a:latin typeface="Microsoft YaHei"/>
              </a:rPr>
              <a:t>-6.1 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90288" y="3922776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反向转空 2 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90288" y="4306824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0 只｜空→空转多 0 只｜多占比 0.0%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11311" y="3419856"/>
            <a:ext cx="3584448" cy="16824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211311" y="3419856"/>
            <a:ext cx="73152" cy="1682496"/>
          </a:xfrm>
          <a:prstGeom prst="rect">
            <a:avLst/>
          </a:prstGeom>
          <a:solidFill>
            <a:srgbClr val="F0B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0" y="3557016"/>
            <a:ext cx="17373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A1D30"/>
                </a:solidFill>
                <a:latin typeface="Microsoft YaHei"/>
              </a:rPr>
              <a:t>电力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698480" y="3575304"/>
            <a:ext cx="877824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0B744"/>
                </a:solidFill>
                <a:latin typeface="Microsoft YaHei"/>
              </a:rPr>
              <a:t>-6.2 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12480" y="3922776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30" b="1" i="0">
                <a:solidFill>
                  <a:srgbClr val="233242"/>
                </a:solidFill>
                <a:latin typeface="Microsoft YaHei"/>
              </a:rPr>
              <a:t>空→空转多蓄势 1 只；反向转空 2 只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12480" y="4306824"/>
            <a:ext cx="315468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80" b="0" i="0">
                <a:solidFill>
                  <a:srgbClr val="657484"/>
                </a:solidFill>
                <a:latin typeface="Microsoft YaHei"/>
              </a:rPr>
              <a:t>空转多→多 0 只｜空→空转多 1 只｜多占比 3.1%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66928" y="5504688"/>
            <a:ext cx="10991088" cy="612648"/>
          </a:xfrm>
          <a:prstGeom prst="roundRect">
            <a:avLst>
              <a:gd name="adj" fmla="val 12000"/>
            </a:avLst>
          </a:prstGeom>
          <a:solidFill>
            <a:srgbClr val="EB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5641848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318C5E"/>
                </a:solidFill>
                <a:latin typeface="Microsoft YaHei"/>
              </a:rPr>
              <a:t>反向压力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28800" y="5632704"/>
            <a:ext cx="9372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9" b="0" i="0">
                <a:solidFill>
                  <a:srgbClr val="233242"/>
                </a:solidFill>
                <a:latin typeface="Microsoft YaHei"/>
              </a:rPr>
              <a:t>AI应用 转空 40 只｜机器人 转空 39 只｜商业航天 转空 32 只｜半导体芯片 转空 20 只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85216" y="6537960"/>
            <a:ext cx="7498079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结论只基于 MA 结构迁移；次日仍需结合价格、量能和板块联动确认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5520" y="6537960"/>
            <a:ext cx="17373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50" b="0" i="0">
                <a:solidFill>
                  <a:srgbClr val="84919F"/>
                </a:solidFill>
                <a:latin typeface="Microsoft YaHei"/>
              </a:rPr>
              <a:t>2026-10-30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多空趋势当日简报 2026-10-30</dc:title>
  <dc:subject>多空阶段迁移与次日关注</dc:subject>
  <dc:creator>Codex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