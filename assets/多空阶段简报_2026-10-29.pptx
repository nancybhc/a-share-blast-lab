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分组数</c:v>
                </c:pt>
              </c:strCache>
            </c:strRef>
          </c:tx>
          <c:dPt>
            <c:idx val="0"/>
            <c:spPr>
              <a:solidFill>
                <a:srgbClr val="A3262F"/>
              </a:solidFill>
            </c:spPr>
          </c:dPt>
          <c:dPt>
            <c:idx val="1"/>
            <c:spPr>
              <a:solidFill>
                <a:srgbClr val="D34347"/>
              </a:solidFill>
            </c:spPr>
          </c:dPt>
          <c:dPt>
            <c:idx val="2"/>
            <c:spPr>
              <a:solidFill>
                <a:srgbClr val="F0B744"/>
              </a:solidFill>
            </c:spPr>
          </c:dPt>
          <c:dPt>
            <c:idx val="3"/>
            <c:spPr>
              <a:solidFill>
                <a:srgbClr val="318C5E"/>
              </a:solidFill>
            </c:spPr>
          </c:dPt>
          <c:cat>
            <c:strRef>
              <c:f>Sheet1!$A$2:$A$5</c:f>
              <c:strCache>
                <c:ptCount val="4"/>
                <c:pt idx="0">
                  <c:v>强势改善</c:v>
                </c:pt>
                <c:pt idx="1">
                  <c:v>改善</c:v>
                </c:pt>
                <c:pt idx="2">
                  <c:v>平稳</c:v>
                </c:pt>
                <c:pt idx="3">
                  <c:v>恶化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7</c:v>
                </c:pt>
                <c:pt idx="2">
                  <c:v>1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转多迁移构成（只）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空→空转多</c:v>
                </c:pt>
              </c:strCache>
            </c:strRef>
          </c:tx>
          <c:spPr>
            <a:solidFill>
              <a:srgbClr val="F0B744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商业航天</c:v>
                </c:pt>
                <c:pt idx="1">
                  <c:v>药</c:v>
                </c:pt>
                <c:pt idx="2">
                  <c:v>AI应用</c:v>
                </c:pt>
                <c:pt idx="3">
                  <c:v>黄金白银</c:v>
                </c:pt>
                <c:pt idx="4">
                  <c:v>散热液冷</c:v>
                </c:pt>
                <c:pt idx="5">
                  <c:v>电力</c:v>
                </c:pt>
                <c:pt idx="6">
                  <c:v>半导体上游</c:v>
                </c:pt>
                <c:pt idx="7">
                  <c:v>PCB</c:v>
                </c:pt>
                <c:pt idx="8">
                  <c:v>MLCC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</c:v>
                </c:pt>
                <c:pt idx="1">
                  <c:v>18</c:v>
                </c:pt>
                <c:pt idx="2">
                  <c:v>9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空转多→多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商业航天</c:v>
                </c:pt>
                <c:pt idx="1">
                  <c:v>药</c:v>
                </c:pt>
                <c:pt idx="2">
                  <c:v>AI应用</c:v>
                </c:pt>
                <c:pt idx="3">
                  <c:v>黄金白银</c:v>
                </c:pt>
                <c:pt idx="4">
                  <c:v>散热液冷</c:v>
                </c:pt>
                <c:pt idx="5">
                  <c:v>电力</c:v>
                </c:pt>
                <c:pt idx="6">
                  <c:v>半导体上游</c:v>
                </c:pt>
                <c:pt idx="7">
                  <c:v>PCB</c:v>
                </c:pt>
                <c:pt idx="8">
                  <c:v>MLCC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空→多</c:v>
                </c:pt>
              </c:strCache>
            </c:strRef>
          </c:tx>
          <c:spPr>
            <a:solidFill>
              <a:srgbClr val="A3262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商业航天</c:v>
                </c:pt>
                <c:pt idx="1">
                  <c:v>药</c:v>
                </c:pt>
                <c:pt idx="2">
                  <c:v>AI应用</c:v>
                </c:pt>
                <c:pt idx="3">
                  <c:v>黄金白银</c:v>
                </c:pt>
                <c:pt idx="4">
                  <c:v>散热液冷</c:v>
                </c:pt>
                <c:pt idx="5">
                  <c:v>电力</c:v>
                </c:pt>
                <c:pt idx="6">
                  <c:v>半导体上游</c:v>
                </c:pt>
                <c:pt idx="7">
                  <c:v>PCB</c:v>
                </c:pt>
                <c:pt idx="8">
                  <c:v>MLCC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转多力度（每 100 只的净加权事件）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转多强度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商业航天</c:v>
                </c:pt>
                <c:pt idx="1">
                  <c:v>药</c:v>
                </c:pt>
                <c:pt idx="2">
                  <c:v>AI应用</c:v>
                </c:pt>
                <c:pt idx="3">
                  <c:v>黄金白银</c:v>
                </c:pt>
                <c:pt idx="4">
                  <c:v>散热液冷</c:v>
                </c:pt>
                <c:pt idx="5">
                  <c:v>电力</c:v>
                </c:pt>
                <c:pt idx="6">
                  <c:v>半导体上游</c:v>
                </c:pt>
                <c:pt idx="7">
                  <c:v>PCB</c:v>
                </c:pt>
                <c:pt idx="8">
                  <c:v>MLCC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64.5</c:v>
                </c:pt>
                <c:pt idx="1">
                  <c:v>16.3</c:v>
                </c:pt>
                <c:pt idx="2">
                  <c:v>14.8</c:v>
                </c:pt>
                <c:pt idx="3">
                  <c:v>9.1</c:v>
                </c:pt>
                <c:pt idx="4">
                  <c:v>7.3</c:v>
                </c:pt>
                <c:pt idx="5">
                  <c:v>6.2</c:v>
                </c:pt>
                <c:pt idx="6">
                  <c:v>2.0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当日共 18 个分组；改善 8、恶化 9。转多力度第一为 商业航天，强度 64.52。最强低位转势候选为 商业航天。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堆叠柱分别代表空转空转多、空转多转多、空直接转多。后两者更接近真实转多确认，空转空转多则是下一轮候选。最强低位转势候选：商业航天。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强度使用组规模标准化，避免大分组仅因成分多而排前。空→多权重 3，空转多→多权重 2，空→空转多权重 1；多→空权重 -2，多→多转空 -1.5，多转空→空和空转多→空各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次日先看空转多转多能否继续扩散，再检查空转空转多的蓄势池。反向压力主要来自：算力 转空 10 只｜电网设备 转空 9 只｜半导体芯片 转空 6 只｜存储 转空 4 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多空趋势 · 当日迁移简报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AE6"/>
                </a:solidFill>
                <a:latin typeface="Microsoft YaHei"/>
              </a:rPr>
              <a:t>从 MA5 / MA10 四阶段看结构切换，聚焦转多确认与次日扩散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72" y="42976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D"/>
                </a:solidFill>
                <a:latin typeface="Microsoft YaHei"/>
              </a:rPr>
              <a:t>2026-10-29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8580" cy="1133856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覆盖分组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改善 8 · 恶化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空 → 多 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跨过空转多的最强信号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68580" cy="113385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重点异动分组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达到强度或跳级门槛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627632"/>
            <a:ext cx="2450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783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转多力度第一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11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商业航天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8716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强度 64.5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D30"/>
                </a:solidFill>
                <a:latin typeface="Microsoft YaHei"/>
              </a:rPr>
              <a:t>全市场分组方向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58368" y="3456432"/>
          <a:ext cx="4343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321808" y="3246120"/>
            <a:ext cx="629107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9300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4347"/>
                </a:solidFill>
                <a:latin typeface="Microsoft YaHei"/>
              </a:rPr>
              <a:t>今日一句话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822191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3242"/>
                </a:solidFill>
                <a:latin typeface="Microsoft YaHei"/>
              </a:rPr>
              <a:t>商业航天转多确认最强，商业航天以多占比 29.0% 成为最强低位转势候选，但同时提防算力、电网设备等反向转空。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低位候选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6FAA"/>
                </a:solidFill>
                <a:latin typeface="Microsoft YaHei"/>
              </a:rPr>
              <a:t>商业航天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34347"/>
                </a:solidFill>
                <a:latin typeface="Microsoft YaHei"/>
              </a:rPr>
              <a:t>2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重点分组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8B36"/>
                </a:solidFill>
                <a:latin typeface="Microsoft YaHei"/>
              </a:rPr>
              <a:t>6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转多结构：先看空转多确认，还是仍停留在蓄势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按组规模净强度由强到弱；每组三块：空→空转多、空转多→多、空→多；右侧只看组级候选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731520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50876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5904" y="1673352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901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34347"/>
                </a:solidFill>
                <a:latin typeface="Microsoft YaHei"/>
              </a:rPr>
              <a:t>商业航天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350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3242"/>
                </a:solidFill>
                <a:latin typeface="Microsoft YaHei"/>
              </a:rPr>
              <a:t>空转多→多 2→2 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090672"/>
            <a:ext cx="34015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325526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空转多→多数量最多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5021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58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3242"/>
                </a:solidFill>
                <a:latin typeface="Microsoft YaHei"/>
              </a:rPr>
              <a:t>4 只｜多占比 13.0%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57200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71830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最强低位转势候选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6519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6FAA"/>
                </a:solidFill>
                <a:latin typeface="Microsoft YaHei"/>
              </a:rPr>
              <a:t>商业航天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330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33242"/>
                </a:solidFill>
                <a:latin typeface="Microsoft YaHei"/>
              </a:rPr>
              <a:t>多占比 29.0%｜空转多→多 2 只｜空→空转多 21 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转多力度排行：谁完成了转多确认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按组规模标准化的净转多强度，由强到弱降序；跳级权重最高，反向转空计负分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6995160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45552" y="1490472"/>
            <a:ext cx="3767328" cy="749808"/>
          </a:xfrm>
          <a:prstGeom prst="roundRect">
            <a:avLst>
              <a:gd name="adj" fmla="val 12000"/>
            </a:avLst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27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NO.1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470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商业航天  ·  64.5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45552" y="2441448"/>
          <a:ext cx="376732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34440"/>
                <a:gridCol w="868680"/>
                <a:gridCol w="116128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分组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力度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转多确认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商业航天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64.5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药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16.3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AI应用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14.8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黄金白银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9.1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散热液冷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7.3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电力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6.2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82127" y="5468112"/>
            <a:ext cx="36758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力度 =（3×空→多 + 2×空转多→多 + 1×空→空转多 − 反向转空加权）÷ 分组只数×100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次日关注：先看转多确认能否扩散，再排除反向转空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按净转多强度由强到弱降序，只保留组级判断，不再展开个股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3152" cy="168249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商业航天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34347"/>
                </a:solidFill>
                <a:latin typeface="Microsoft YaHei"/>
              </a:rPr>
              <a:t>64.5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空→多跳级 5 只；空转多→多 2→2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 只｜空→空转多 21 只｜多占比 29.0%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16.3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2→4；反向转空 3 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4 只｜空→空转多 18 只｜多占比 13.0%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1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AI应用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14.8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0→2；反向转空 2 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 只｜空→空转多 9 只｜多占比 19.7%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黄金白银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9.1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空→空转多蓄势 2 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2 只｜多占比 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散热液冷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7.3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1 只｜多占比 2.4%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1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1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电力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6.2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1→1；反向转空 1 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1 只｜多占比 9.4%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04688"/>
            <a:ext cx="10991088" cy="612648"/>
          </a:xfrm>
          <a:prstGeom prst="roundRect">
            <a:avLst>
              <a:gd name="adj" fmla="val 12000"/>
            </a:avLst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6418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8C5E"/>
                </a:solidFill>
                <a:latin typeface="Microsoft YaHei"/>
              </a:rPr>
              <a:t>反向压力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32704"/>
            <a:ext cx="9372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33242"/>
                </a:solidFill>
                <a:latin typeface="Microsoft YaHei"/>
              </a:rPr>
              <a:t>算力 转空 10 只｜电网设备 转空 9 只｜半导体芯片 转空 6 只｜存储 转空 4 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结论只基于 MA 结构迁移；次日仍需结合价格、量能和板块联动确认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多空趋势当日简报 2026-10-29</dc:title>
  <dc:subject>多空阶段迁移与次日关注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